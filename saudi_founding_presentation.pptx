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/>
            <a:r>
              <a:rPr sz="1400">
                <a:latin typeface="Arial"/>
              </a:rPr>
              <a:t>افتتح العرض بتحية سريعة واشرح لماذا الموضوع مهم: إنه أصل الدولة وهويتها.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/>
            <a:r>
              <a:rPr sz="1400">
                <a:latin typeface="Arial"/>
              </a:rPr>
              <a:t>وضّح الظروف الاجتماعية والاقتصادية والبُنى القبلية قبل 1902م ومستوى الاضطراب في المنطقة.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/>
            <a:r>
              <a:rPr sz="1400">
                <a:latin typeface="Arial"/>
              </a:rPr>
              <a:t>اشرح ذكاء العملية سياسيًا وعسكريًا وتأثيرها بعيد المدى على مسيرة التوحيد.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/>
            <a:r>
              <a:rPr sz="1400">
                <a:latin typeface="Arial"/>
              </a:rPr>
              <a:t>استخدم الخريطة لشرح التوسع التدريجي والدوافع السياسية لكل مرحلةٍ من مراحل التوحيد.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/>
            <a:r>
              <a:rPr sz="1400">
                <a:latin typeface="Arial"/>
              </a:rPr>
              <a:t>اقرأ مقتطفًا قصيرًا من روح القرار يؤكد إنهاء تعدد الممالك وتحقيق الوحدة.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/>
            <a:r>
              <a:rPr sz="1400">
                <a:latin typeface="Arial"/>
              </a:rPr>
              <a:t>اذكر قصة أو موقف يبرز كيف كسب ولاءات القبائل أو تعامل مع خصومه.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/>
            <a:r>
              <a:rPr sz="1400">
                <a:latin typeface="Arial"/>
              </a:rPr>
              <a:t>اربط الأهداف برؤية طويلة المدى ودور الدولة الإقليمي لاحقًا.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/>
            <a:r>
              <a:rPr sz="1400">
                <a:latin typeface="Arial"/>
              </a:rPr>
              <a:t>اشرح كيف واجه الملك المؤسس كل تحدٍ بمزيج من الحزم، التفاوض، والتحالفات الذكية.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/>
            <a:r>
              <a:rPr sz="1400">
                <a:latin typeface="Arial"/>
              </a:rPr>
              <a:t>أبرز أهمية الانتقال من الحكم القبلي الشائع إلى دولة مؤسساتية حديثة.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/>
            <a:r>
              <a:rPr sz="1400">
                <a:latin typeface="Arial"/>
              </a:rPr>
              <a:t>تحدث عن التوازن بين الحفاظ على التراث وتوظيف الموارد للتحديث الاقتصادي والاجتماعي.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/>
            <a:r>
              <a:rPr sz="1400">
                <a:latin typeface="Arial"/>
              </a:rPr>
              <a:t>أكد على البعد الديني للدولة وكيف أثّر ذلك في سياساتها الداخلية والخارجية.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/>
            <a:r>
              <a:rPr sz="1400">
                <a:latin typeface="Arial"/>
              </a:rPr>
              <a:t>أشر إلى جهود تحديث المجتمع مع الحفاظ على القيم الثقافية الأصيلة.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/>
            <a:r>
              <a:rPr sz="1400">
                <a:latin typeface="Arial"/>
              </a:rPr>
              <a:t>أعطِ أمثلة مبكرة على علاقات دولية أو زيارات رسمية لتأكيد حضور المملكة العالمي.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/>
            <a:r>
              <a:rPr sz="1400">
                <a:latin typeface="Arial"/>
              </a:rPr>
              <a:t>قبل تشغيل الفيديو قدّم ملخصًا سريعًا لما سيراه الجمهور، وبعده قدّم استنتاجًا أو افتح باب النقاش.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/>
            <a:r>
              <a:rPr sz="1400">
                <a:latin typeface="Arial"/>
              </a:rPr>
              <a:t>اختم بجملة تحفيزية تربط الحاضر بالمستقبل: "نحن نبني على أكتاف تاريخ عريق" ودعُ الجمهور للتفكير.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youtube.com/watch?v=pCSlkMc52nE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000" b="1">
                <a:latin typeface="Arial"/>
              </a:rPr>
              <a:t>تأسيس المملكة العربية السعودية 🇸🇦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400">
                <a:latin typeface="Arial"/>
              </a:rPr>
              <a:t>من التوحيد إلى النهضة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عرض شعار أو صورة للملك المؤسس عبدالعزيز.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23 سبتمبر 1932م (اليوم الوطني).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latin typeface="Arial"/>
              </a:rPr>
              <a:t>ملاحظة الصورة: الخلفية المقترحة: خريطة شبه الجزيرة العربية بنقوش ذهبية أو صورة تراثية للرياض القديمة.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000" b="1">
                <a:latin typeface="Arial"/>
              </a:rPr>
              <a:t>الوضع قبل بداية التوحيد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شبه الجزيرة العربية كانت موزعة على إمارات ودويلات قبل أوائل القرن العشرين.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غياب سلطة مركزية موحَّدة أدى لتكرار الصراعات القبلية والنزاعات الإدارية.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الحجاز كان تحت حكم آخرين (أمثال الشريف حسين) ونجد لها أملاك مستقلة.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latin typeface="Arial"/>
              </a:rPr>
              <a:t>ملاحظة الصورة: صورة مقترحة: مشاهد من الحياة القبلية مثل الخيام أو الجِمال أو خريطة قديمة.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000" b="1">
                <a:latin typeface="Arial"/>
              </a:rPr>
              <a:t>استعادة الرياض (1902م) — نقطة الانطلاق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15 يناير 1902م: عملية استرداد الرياض بقيادة عبدالعزيز بن عبدالرحمن آل سعود.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نجاح استعادة الرياض أعطى زخمًا سياسيًا وعسكريًا لبناء دولة موحّدة.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بعد الاسترداد بدأ عبدالعزيز يكسب ولاءات القبائل ويؤسس قواعد حكمه.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latin typeface="Arial"/>
              </a:rPr>
              <a:t>ملاحظة الصورة: صورة مقترحة: قلعة المصمك أو مشهد تمثيلي لاسترداد الرياض.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000" b="1">
                <a:latin typeface="Arial"/>
              </a:rPr>
              <a:t>خطوات توحيد الأراضي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نجد: التوسّع التدريجي بعد 1902م.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الأحساء (1913م): ضمّها أعطى تحكّمًا شرقياً واستقرارًا استراتيجيًا.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عسير (حوالي 1920م): توسّع نحو الجنوب الغربي.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الحجاز (1924–1925م): حملة ضمّت مكة والمدينة بعد سقوط الحكومات المحلية.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اعرض خريطة زمنية توضح سنة كل ضمّ.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latin typeface="Arial"/>
              </a:rPr>
              <a:t>ملاحظة الصورة: خريطة متدرجة الألوان تُظهر سنوات الانضمام لكل منطقة.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000" b="1">
                <a:latin typeface="Arial"/>
              </a:rPr>
              <a:t>إعلان "المملكة العربية السعودية" (23 سبتمبر 1932م)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صدور مرسوم ملكي بتوحيد ممالك الحجاز ونجد وملحقاتها تحت اسم واحد.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الهدف: توحيد الإدارة والهوية وإضفاء طابع دولي موحَّد للدولة.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أصبح التاريخ يومًا وطنيًا يُحتفل به سنويًا.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latin typeface="Arial"/>
              </a:rPr>
              <a:t>ملاحظة الصورة: استخدم صورة للوثيقة الأصلية أو خلفية بنقش زيتي تراثي.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000" b="1">
                <a:latin typeface="Arial"/>
              </a:rPr>
              <a:t>الملك عبدالعزيز: حياته ودوره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مولده ونشأته: نسب وسيرة قصيرة.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قياداته العسكرية والسياسية، وأبرز صفاته القيادية مثل الحكمة والصبر والقدرة على التفاوض.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إنجازاته: توحيد البلاد، تأسيس مؤسسات الدولة الأولى، وضع أسس الدبلوماسية الحديثة.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latin typeface="Arial"/>
              </a:rPr>
              <a:t>ملاحظة الصورة: صورة رسمية للملك المؤسس أو مادة أرشيفية تبرز شخصيته.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000" b="1">
                <a:latin typeface="Arial"/>
              </a:rPr>
              <a:t>لماذا تأسست الدولة؟ (أهداف ورؤى)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توحيد شتات القبائل ضمن كيان سياسي واحد.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توفير الأمن والاستقرار للسكان وللتجارة.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بناء دولة تُطبّق الشريعة الإسلامية مع تنظيم إداري عصري.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حماية الأماكن المقدسة وخدمة الحرمين الشريفين.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latin typeface="Arial"/>
              </a:rPr>
              <a:t>ملاحظة الصورة: نقش عربي أو خط عربي جمالي يدعم الفكرة الرسالية للدولة.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000" b="1">
                <a:latin typeface="Arial"/>
              </a:rPr>
              <a:t>عقبات وامتحانات في طريق التوحيد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مقاومة بعض القبائل والقوى المحلية.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ندرة الموارد الاقتصادية الرسمية في البداية (قبل النفط).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الحاجة لبناء مؤسسات وسياسات حكومية من الصفر.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الضغوط وبناء العلاقات مع قوى إقليمية ودولية.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latin typeface="Arial"/>
              </a:rPr>
              <a:t>ملاحظة الصورة: رموز للقوة مثل السيف أو الدرع مع نقوش تراثية.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000" b="1">
                <a:latin typeface="Arial"/>
              </a:rPr>
              <a:t>تأسيس الجهاز الإداري والحكومي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تأسيس وزارات وإدارات أساسية مثل الداخلية والدفاع والخارجية والمالية.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وضع أنظمة إدارية وقضائية تنظم المجتمع وتضمن العدالة.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بداية تنظيم الجبايات والضرائب وإدارة الموارد.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latin typeface="Arial"/>
              </a:rPr>
              <a:t>ملاحظة الصورة: مستندات رسمية قديمة أو مبنى حكومي تراثي يرمز لبداية المؤسسات.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000" b="1">
                <a:latin typeface="Arial"/>
              </a:rPr>
              <a:t>اكتشاف النفط (1938م) وتحول الاقتصاد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اكتشاف النفط التجاري في حقل الظهران عام 1938م.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النفط غيّر مسار التنمية وأدخل البلاد إلى سوق الطاقة العالمي.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الموارد المالية مكّنت من بناء بنية تحتية واسعة: طرق، مستشفيات، مدارس.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latin typeface="Arial"/>
              </a:rPr>
              <a:t>ملاحظة الصورة: أول بئر نفط أو صور حقول النفط القديمة.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000" b="1">
                <a:latin typeface="Arial"/>
              </a:rPr>
              <a:t>خدمة الحرمين ورعاية المقدسات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بعد توحيد الحجاز أصبحت المملكة الراعي الرسمي للحرمين الشريفين.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تنظيم شؤون الحج والعمرة وإطلاق توسعات لاحقة لخدمة الحجاج.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تعزيز مكانة السعودية كقائد روحي وسياسي في العالم الإسلامي.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latin typeface="Arial"/>
              </a:rPr>
              <a:t>ملاحظة الصورة: صورة للحرم المكي أو المسجد النبوي داخل إطار تراثي.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000" b="1">
                <a:latin typeface="Arial"/>
              </a:rPr>
              <a:t>بدايات التعليم والتحديث الاجتماعي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إنشاء مدارس رسمية ونشر التعليم النظامي تدريجيًا.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الاهتمام بالحرف والتراث المحلي واللغة العربية.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تأسيس مؤسسات ثقافية وحفظ للآثار والتراث.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latin typeface="Arial"/>
              </a:rPr>
              <a:t>ملاحظة الصورة: صور لمدارس قديمة أو مشاهد تعليم تقليدية.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000" b="1">
                <a:latin typeface="Arial"/>
              </a:rPr>
              <a:t>الاعتراف الدولي والدور الدبلوماسي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انضمام المملكة إلى المجتمع الدولي والمنظمات مثل الأمم المتحدة.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إقامة علاقات دبلوماسية وتجارية مع دول العالم.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أدوار الوساطة والدعم في القضايا الإقليمية.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latin typeface="Arial"/>
              </a:rPr>
              <a:t>ملاحظة الصورة: صور لزيارات دبلوماسية أو رموز الأمم المتحدة مع لمسة تراثية.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000" b="1">
                <a:latin typeface="Arial"/>
              </a:rPr>
              <a:t>فيلم وثائقي: قصة التأسيس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«شاهدوا هذا الوثائقي القصير الذي يلخّص رحلة التوحيد وتأسيس المملكة.»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رابط الفيديو: </a:t>
            </a:r>
            <a:r>
              <a:rPr sz="2400">
                <a:latin typeface="Arial"/>
                <a:hlinkClick r:id="rId3"/>
              </a:rPr>
              <a:t>https://www.youtube.com/watch?v=pCSlkMc52nE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التوقيت المقترح للعرض: 4–8 دقائق بحسب طول المادة.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latin typeface="Arial"/>
              </a:rPr>
              <a:t>ملاحظة الصورة: تصميم إطار شاشة فيلم قديم مع مشاهد أرشيفية.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000" b="1">
                <a:latin typeface="Arial"/>
              </a:rPr>
              <a:t>خاتمة: من الماضي إلى المستقبل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تلخيص سريع: من جهود الملك المؤسس إلى دولة حديثة ذات هوية إسلامية ووطنية.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استنتاج: الوحدة والبناء المؤسسي هما مفتاح الاستقرار والتقدم.</a:t>
            </a:r>
          </a:p>
          <a:p>
            <a:pPr algn="r">
              <a:spcAft>
                <a:spcPts val="600"/>
              </a:spcAft>
            </a:pPr>
            <a:r>
              <a:rPr sz="2400">
                <a:latin typeface="Arial"/>
              </a:rPr>
              <a:t>دعوة تفاعلية: ما أهم درس نستفيده من رحلة التأسيس؟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>
                <a:latin typeface="Arial"/>
              </a:rPr>
              <a:t>ملاحظة الصورة: نقش تراثي مع عبارة ملهمة بالخط العربي.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